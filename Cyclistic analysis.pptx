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 id="257" r:id="rId7"/>
    <p:sldId id="258" r:id="rId8"/>
    <p:sldId id="259" r:id="rId9"/>
    <p:sldId id="260" r:id="rId10"/>
    <p:sldId id="261"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76" d="100"/>
          <a:sy n="76" d="100"/>
        </p:scale>
        <p:origin x="8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96738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5972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9453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72338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97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5311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24624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3030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09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47116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fld id="{EED1C14C-A143-42F5-B247-D0E800131009}" type="datetimeFigureOut">
              <a:rPr lang="en-US" smtClean="0"/>
              <a:t>30-Sep-26</a:t>
            </a:fld>
            <a:endParaRPr lang="en-US"/>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9552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t>30-Sep-26</a:t>
            </a:fld>
            <a:endParaRPr lang="en-US"/>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1904852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ublic.tableau.com/views/Cyclisticanalysis_17907655768570/Overview"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slide1">
            <a:extLst>
              <a:ext uri="{FF2B5EF4-FFF2-40B4-BE49-F238E27FC236}">
                <a16:creationId xmlns:a16="http://schemas.microsoft.com/office/drawing/2014/main" id="{EE99CA5A-3966-4964-9ED1-B36714DE0153}"/>
              </a:ext>
            </a:extLst>
          </p:cNvPr>
          <p:cNvSpPr>
            <a:spLocks noGrp="1"/>
          </p:cNvSpPr>
          <p:nvPr>
            <p:ph type="ctrTitle"/>
          </p:nvPr>
        </p:nvSpPr>
        <p:spPr>
          <a:xfrm>
            <a:off x="1634531" y="2235200"/>
            <a:ext cx="9144000" cy="2387600"/>
          </a:xfrm>
        </p:spPr>
        <p:txBody>
          <a:bodyPr/>
          <a:lstStyle/>
          <a:p>
            <a:r>
              <a:rPr lang="en-US" dirty="0">
                <a:solidFill>
                  <a:schemeClr val="accent2">
                    <a:lumMod val="50000"/>
                  </a:schemeClr>
                </a:solidFill>
                <a:hlinkClick r:id="rId3">
                  <a:extLst>
                    <a:ext uri="{A12FA001-AC4F-418D-AE19-62706E023703}">
                      <ahyp:hlinkClr xmlns:ahyp="http://schemas.microsoft.com/office/drawing/2018/hyperlinkcolor" val="tx"/>
                    </a:ext>
                  </a:extLst>
                </a:hlinkClick>
              </a:rPr>
              <a:t>How do </a:t>
            </a:r>
            <a:r>
              <a:rPr lang="en-US" dirty="0" err="1">
                <a:solidFill>
                  <a:schemeClr val="accent2">
                    <a:lumMod val="50000"/>
                  </a:schemeClr>
                </a:solidFill>
                <a:hlinkClick r:id="rId3">
                  <a:extLst>
                    <a:ext uri="{A12FA001-AC4F-418D-AE19-62706E023703}">
                      <ahyp:hlinkClr xmlns:ahyp="http://schemas.microsoft.com/office/drawing/2018/hyperlinkcolor" val="tx"/>
                    </a:ext>
                  </a:extLst>
                </a:hlinkClick>
              </a:rPr>
              <a:t>Cyclistic</a:t>
            </a:r>
            <a:r>
              <a:rPr lang="en-US" dirty="0">
                <a:solidFill>
                  <a:schemeClr val="accent2">
                    <a:lumMod val="50000"/>
                  </a:schemeClr>
                </a:solidFill>
                <a:hlinkClick r:id="rId3">
                  <a:extLst>
                    <a:ext uri="{A12FA001-AC4F-418D-AE19-62706E023703}">
                      <ahyp:hlinkClr xmlns:ahyp="http://schemas.microsoft.com/office/drawing/2018/hyperlinkcolor" val="tx"/>
                    </a:ext>
                  </a:extLst>
                </a:hlinkClick>
              </a:rPr>
              <a:t> Member and Casual differ?</a:t>
            </a:r>
            <a:endParaRPr lang="en-us" dirty="0">
              <a:solidFill>
                <a:schemeClr val="accent2">
                  <a:lumMod val="50000"/>
                </a:schemeClr>
              </a:solidFill>
              <a:hlinkClick r:id="rId3">
                <a:extLst>
                  <a:ext uri="{A12FA001-AC4F-418D-AE19-62706E023703}">
                    <ahyp:hlinkClr xmlns:ahyp="http://schemas.microsoft.com/office/drawing/2018/hyperlinkcolor" val="tx"/>
                  </a:ext>
                </a:extLst>
              </a:hlinkClick>
            </a:endParaRPr>
          </a:p>
        </p:txBody>
      </p:sp>
      <p:sp>
        <p:nvSpPr>
          <p:cNvPr id="3" name="slide1">
            <a:extLst>
              <a:ext uri="{FF2B5EF4-FFF2-40B4-BE49-F238E27FC236}">
                <a16:creationId xmlns:a16="http://schemas.microsoft.com/office/drawing/2014/main" id="{F3980055-8305-4860-A802-0D23960AD37C}"/>
              </a:ext>
            </a:extLst>
          </p:cNvPr>
          <p:cNvSpPr>
            <a:spLocks noGrp="1"/>
          </p:cNvSpPr>
          <p:nvPr>
            <p:ph type="subTitle" idx="1"/>
          </p:nvPr>
        </p:nvSpPr>
        <p:spPr/>
        <p:txBody>
          <a:bodyPr/>
          <a:lstStyle/>
          <a:p>
            <a:endParaRPr lang="en-US" dirty="0"/>
          </a:p>
          <a:p>
            <a:endParaRPr dirty="0"/>
          </a:p>
        </p:txBody>
      </p:sp>
    </p:spTree>
    <p:extLst>
      <p:ext uri="{BB962C8B-B14F-4D97-AF65-F5344CB8AC3E}">
        <p14:creationId xmlns:p14="http://schemas.microsoft.com/office/powerpoint/2010/main" val="9599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2C0FC-6E7D-6C3F-7B66-E4F68C0E3D1C}"/>
              </a:ext>
            </a:extLst>
          </p:cNvPr>
          <p:cNvSpPr txBox="1"/>
          <p:nvPr/>
        </p:nvSpPr>
        <p:spPr>
          <a:xfrm>
            <a:off x="1125415" y="753625"/>
            <a:ext cx="3315956" cy="646331"/>
          </a:xfrm>
          <a:prstGeom prst="rect">
            <a:avLst/>
          </a:prstGeom>
          <a:noFill/>
        </p:spPr>
        <p:txBody>
          <a:bodyPr wrap="square" rtlCol="0">
            <a:spAutoFit/>
          </a:bodyPr>
          <a:lstStyle/>
          <a:p>
            <a:r>
              <a:rPr lang="en-US" sz="3600" dirty="0">
                <a:solidFill>
                  <a:schemeClr val="accent2">
                    <a:lumMod val="50000"/>
                  </a:schemeClr>
                </a:solidFill>
              </a:rPr>
              <a:t>Table of content</a:t>
            </a:r>
          </a:p>
        </p:txBody>
      </p:sp>
      <p:sp>
        <p:nvSpPr>
          <p:cNvPr id="3" name="TextBox 2">
            <a:extLst>
              <a:ext uri="{FF2B5EF4-FFF2-40B4-BE49-F238E27FC236}">
                <a16:creationId xmlns:a16="http://schemas.microsoft.com/office/drawing/2014/main" id="{08CF5328-297D-4747-0C0A-2973287F0454}"/>
              </a:ext>
            </a:extLst>
          </p:cNvPr>
          <p:cNvSpPr txBox="1"/>
          <p:nvPr/>
        </p:nvSpPr>
        <p:spPr>
          <a:xfrm>
            <a:off x="6920269" y="1768510"/>
            <a:ext cx="4211782"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2">
                    <a:lumMod val="50000"/>
                  </a:schemeClr>
                </a:solidFill>
              </a:rPr>
              <a:t>Company Background</a:t>
            </a:r>
          </a:p>
          <a:p>
            <a:pPr marL="285750" indent="-285750">
              <a:buFont typeface="Arial" panose="020B0604020202020204" pitchFamily="34" charset="0"/>
              <a:buChar char="•"/>
            </a:pPr>
            <a:r>
              <a:rPr lang="en-US" sz="2400" dirty="0">
                <a:solidFill>
                  <a:schemeClr val="accent2">
                    <a:lumMod val="50000"/>
                  </a:schemeClr>
                </a:solidFill>
              </a:rPr>
              <a:t>Business Challenge</a:t>
            </a:r>
          </a:p>
          <a:p>
            <a:pPr marL="285750" indent="-285750">
              <a:buFont typeface="Arial" panose="020B0604020202020204" pitchFamily="34" charset="0"/>
              <a:buChar char="•"/>
            </a:pPr>
            <a:r>
              <a:rPr lang="en-US" sz="2400" dirty="0">
                <a:solidFill>
                  <a:schemeClr val="accent2">
                    <a:lumMod val="50000"/>
                  </a:schemeClr>
                </a:solidFill>
              </a:rPr>
              <a:t>Data</a:t>
            </a:r>
          </a:p>
          <a:p>
            <a:pPr marL="285750" indent="-285750">
              <a:buFont typeface="Arial" panose="020B0604020202020204" pitchFamily="34" charset="0"/>
              <a:buChar char="•"/>
            </a:pPr>
            <a:r>
              <a:rPr lang="en-US" sz="2400" dirty="0">
                <a:solidFill>
                  <a:schemeClr val="accent2">
                    <a:lumMod val="50000"/>
                  </a:schemeClr>
                </a:solidFill>
              </a:rPr>
              <a:t>Analysis</a:t>
            </a:r>
          </a:p>
          <a:p>
            <a:pPr marL="285750" indent="-285750">
              <a:buFont typeface="Arial" panose="020B0604020202020204" pitchFamily="34" charset="0"/>
              <a:buChar char="•"/>
            </a:pPr>
            <a:r>
              <a:rPr lang="en-US" sz="2400" dirty="0">
                <a:solidFill>
                  <a:schemeClr val="accent2">
                    <a:lumMod val="50000"/>
                  </a:schemeClr>
                </a:solidFill>
              </a:rPr>
              <a:t>Conclusion</a:t>
            </a:r>
          </a:p>
          <a:p>
            <a:pPr marL="285750" indent="-285750">
              <a:buFont typeface="Arial" panose="020B0604020202020204" pitchFamily="34" charset="0"/>
              <a:buChar char="•"/>
            </a:pPr>
            <a:r>
              <a:rPr lang="en-US" sz="2400" dirty="0">
                <a:solidFill>
                  <a:schemeClr val="accent2">
                    <a:lumMod val="50000"/>
                  </a:schemeClr>
                </a:solidFill>
              </a:rPr>
              <a:t>Recommendation</a:t>
            </a:r>
          </a:p>
        </p:txBody>
      </p:sp>
    </p:spTree>
    <p:extLst>
      <p:ext uri="{BB962C8B-B14F-4D97-AF65-F5344CB8AC3E}">
        <p14:creationId xmlns:p14="http://schemas.microsoft.com/office/powerpoint/2010/main" val="1834884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F1CAAE-38E5-37D9-051B-0D3331802650}"/>
              </a:ext>
            </a:extLst>
          </p:cNvPr>
          <p:cNvSpPr txBox="1"/>
          <p:nvPr/>
        </p:nvSpPr>
        <p:spPr>
          <a:xfrm>
            <a:off x="3768435" y="252490"/>
            <a:ext cx="4320487" cy="584775"/>
          </a:xfrm>
          <a:prstGeom prst="rect">
            <a:avLst/>
          </a:prstGeom>
          <a:noFill/>
        </p:spPr>
        <p:txBody>
          <a:bodyPr wrap="square" rtlCol="0">
            <a:spAutoFit/>
          </a:bodyPr>
          <a:lstStyle/>
          <a:p>
            <a:r>
              <a:rPr lang="en-US" sz="3200" b="1" dirty="0">
                <a:solidFill>
                  <a:schemeClr val="accent2">
                    <a:lumMod val="50000"/>
                  </a:schemeClr>
                </a:solidFill>
              </a:rPr>
              <a:t>Company Background</a:t>
            </a:r>
          </a:p>
        </p:txBody>
      </p:sp>
      <p:sp>
        <p:nvSpPr>
          <p:cNvPr id="3" name="TextBox 2">
            <a:extLst>
              <a:ext uri="{FF2B5EF4-FFF2-40B4-BE49-F238E27FC236}">
                <a16:creationId xmlns:a16="http://schemas.microsoft.com/office/drawing/2014/main" id="{D33AFA83-F51B-69D7-83EA-748137FBD278}"/>
              </a:ext>
            </a:extLst>
          </p:cNvPr>
          <p:cNvSpPr txBox="1"/>
          <p:nvPr/>
        </p:nvSpPr>
        <p:spPr>
          <a:xfrm>
            <a:off x="692724" y="1502922"/>
            <a:ext cx="2632365" cy="1200329"/>
          </a:xfrm>
          <a:prstGeom prst="rect">
            <a:avLst/>
          </a:prstGeom>
          <a:noFill/>
        </p:spPr>
        <p:txBody>
          <a:bodyPr wrap="square" rtlCol="0">
            <a:spAutoFit/>
          </a:bodyPr>
          <a:lstStyle/>
          <a:p>
            <a:pPr algn="ctr"/>
            <a:r>
              <a:rPr lang="en-US" b="1" u="sng" dirty="0">
                <a:solidFill>
                  <a:schemeClr val="accent2">
                    <a:lumMod val="50000"/>
                  </a:schemeClr>
                </a:solidFill>
              </a:rPr>
              <a:t>Formation and Industry</a:t>
            </a:r>
          </a:p>
          <a:p>
            <a:r>
              <a:rPr lang="en-US" dirty="0">
                <a:solidFill>
                  <a:schemeClr val="accent2">
                    <a:lumMod val="50000"/>
                  </a:schemeClr>
                </a:solidFill>
              </a:rPr>
              <a:t>Formed in 2016, </a:t>
            </a:r>
            <a:r>
              <a:rPr lang="en-US" dirty="0" err="1">
                <a:solidFill>
                  <a:schemeClr val="accent2">
                    <a:lumMod val="50000"/>
                  </a:schemeClr>
                </a:solidFill>
              </a:rPr>
              <a:t>Cyclistic</a:t>
            </a:r>
            <a:r>
              <a:rPr lang="en-US" dirty="0">
                <a:solidFill>
                  <a:schemeClr val="accent2">
                    <a:lumMod val="50000"/>
                  </a:schemeClr>
                </a:solidFill>
              </a:rPr>
              <a:t> is a Chicago based Bike-share company.</a:t>
            </a:r>
          </a:p>
        </p:txBody>
      </p:sp>
      <p:sp>
        <p:nvSpPr>
          <p:cNvPr id="4" name="TextBox 3">
            <a:extLst>
              <a:ext uri="{FF2B5EF4-FFF2-40B4-BE49-F238E27FC236}">
                <a16:creationId xmlns:a16="http://schemas.microsoft.com/office/drawing/2014/main" id="{4B8CD275-E3C5-19BA-6F62-F328A6387352}"/>
              </a:ext>
            </a:extLst>
          </p:cNvPr>
          <p:cNvSpPr txBox="1"/>
          <p:nvPr/>
        </p:nvSpPr>
        <p:spPr>
          <a:xfrm>
            <a:off x="789707" y="3829218"/>
            <a:ext cx="2438400" cy="2031325"/>
          </a:xfrm>
          <a:prstGeom prst="rect">
            <a:avLst/>
          </a:prstGeom>
          <a:noFill/>
        </p:spPr>
        <p:txBody>
          <a:bodyPr wrap="square" rtlCol="0">
            <a:spAutoFit/>
          </a:bodyPr>
          <a:lstStyle/>
          <a:p>
            <a:pPr algn="ctr"/>
            <a:r>
              <a:rPr lang="en-US" b="1" u="sng" dirty="0">
                <a:solidFill>
                  <a:schemeClr val="accent2">
                    <a:lumMod val="50000"/>
                  </a:schemeClr>
                </a:solidFill>
              </a:rPr>
              <a:t>Origin</a:t>
            </a:r>
          </a:p>
          <a:p>
            <a:r>
              <a:rPr lang="en-US" dirty="0" err="1">
                <a:solidFill>
                  <a:schemeClr val="accent2">
                    <a:lumMod val="50000"/>
                  </a:schemeClr>
                </a:solidFill>
              </a:rPr>
              <a:t>Cyclistic</a:t>
            </a:r>
            <a:r>
              <a:rPr lang="en-US" dirty="0">
                <a:solidFill>
                  <a:schemeClr val="accent2">
                    <a:lumMod val="50000"/>
                  </a:schemeClr>
                </a:solidFill>
              </a:rPr>
              <a:t> is a fictional company made for this capstone project, based on the real Chicago bike- share company, Divvy.</a:t>
            </a:r>
          </a:p>
        </p:txBody>
      </p:sp>
      <p:sp>
        <p:nvSpPr>
          <p:cNvPr id="5" name="TextBox 4">
            <a:extLst>
              <a:ext uri="{FF2B5EF4-FFF2-40B4-BE49-F238E27FC236}">
                <a16:creationId xmlns:a16="http://schemas.microsoft.com/office/drawing/2014/main" id="{821A259B-7FC0-2AE6-CA20-7045710BDF8C}"/>
              </a:ext>
            </a:extLst>
          </p:cNvPr>
          <p:cNvSpPr txBox="1"/>
          <p:nvPr/>
        </p:nvSpPr>
        <p:spPr>
          <a:xfrm>
            <a:off x="4228834" y="1502922"/>
            <a:ext cx="2438400" cy="1754326"/>
          </a:xfrm>
          <a:prstGeom prst="rect">
            <a:avLst/>
          </a:prstGeom>
          <a:noFill/>
        </p:spPr>
        <p:txBody>
          <a:bodyPr wrap="square" rtlCol="0">
            <a:spAutoFit/>
          </a:bodyPr>
          <a:lstStyle/>
          <a:p>
            <a:pPr algn="ctr"/>
            <a:r>
              <a:rPr lang="en-US" b="1" u="sng" dirty="0">
                <a:solidFill>
                  <a:schemeClr val="accent2">
                    <a:lumMod val="50000"/>
                  </a:schemeClr>
                </a:solidFill>
              </a:rPr>
              <a:t>Service</a:t>
            </a:r>
          </a:p>
          <a:p>
            <a:r>
              <a:rPr lang="en-US" dirty="0" err="1">
                <a:solidFill>
                  <a:schemeClr val="accent2">
                    <a:lumMod val="50000"/>
                  </a:schemeClr>
                </a:solidFill>
              </a:rPr>
              <a:t>Cyclistic</a:t>
            </a:r>
            <a:r>
              <a:rPr lang="en-US" dirty="0">
                <a:solidFill>
                  <a:schemeClr val="accent2">
                    <a:lumMod val="50000"/>
                  </a:schemeClr>
                </a:solidFill>
              </a:rPr>
              <a:t> has over 5824 bicycles that are </a:t>
            </a:r>
            <a:r>
              <a:rPr lang="en-US" dirty="0" err="1">
                <a:solidFill>
                  <a:schemeClr val="accent2">
                    <a:lumMod val="50000"/>
                  </a:schemeClr>
                </a:solidFill>
              </a:rPr>
              <a:t>geotracked</a:t>
            </a:r>
            <a:r>
              <a:rPr lang="en-US" dirty="0">
                <a:solidFill>
                  <a:schemeClr val="accent2">
                    <a:lumMod val="50000"/>
                  </a:schemeClr>
                </a:solidFill>
              </a:rPr>
              <a:t> and locked into a network of 692 stations across Chicago. </a:t>
            </a:r>
          </a:p>
        </p:txBody>
      </p:sp>
      <p:sp>
        <p:nvSpPr>
          <p:cNvPr id="7" name="TextBox 6">
            <a:extLst>
              <a:ext uri="{FF2B5EF4-FFF2-40B4-BE49-F238E27FC236}">
                <a16:creationId xmlns:a16="http://schemas.microsoft.com/office/drawing/2014/main" id="{D28B6877-6BB0-A65F-240D-472B6F9C7CF0}"/>
              </a:ext>
            </a:extLst>
          </p:cNvPr>
          <p:cNvSpPr txBox="1"/>
          <p:nvPr/>
        </p:nvSpPr>
        <p:spPr>
          <a:xfrm>
            <a:off x="4228834" y="3829217"/>
            <a:ext cx="2438400" cy="2031325"/>
          </a:xfrm>
          <a:prstGeom prst="rect">
            <a:avLst/>
          </a:prstGeom>
          <a:noFill/>
        </p:spPr>
        <p:txBody>
          <a:bodyPr wrap="square" rtlCol="0">
            <a:spAutoFit/>
          </a:bodyPr>
          <a:lstStyle/>
          <a:p>
            <a:pPr algn="ctr"/>
            <a:r>
              <a:rPr lang="en-US" b="1" u="sng" dirty="0">
                <a:solidFill>
                  <a:schemeClr val="accent2">
                    <a:lumMod val="50000"/>
                  </a:schemeClr>
                </a:solidFill>
              </a:rPr>
              <a:t>Ride Passes</a:t>
            </a:r>
          </a:p>
          <a:p>
            <a:r>
              <a:rPr lang="en-US" dirty="0" err="1">
                <a:solidFill>
                  <a:schemeClr val="accent2">
                    <a:lumMod val="50000"/>
                  </a:schemeClr>
                </a:solidFill>
              </a:rPr>
              <a:t>Cyclistic</a:t>
            </a:r>
            <a:r>
              <a:rPr lang="en-US" dirty="0">
                <a:solidFill>
                  <a:schemeClr val="accent2">
                    <a:lumMod val="50000"/>
                  </a:schemeClr>
                </a:solidFill>
              </a:rPr>
              <a:t> offers 3 ride passes:</a:t>
            </a:r>
          </a:p>
          <a:p>
            <a:pPr marL="285750" indent="-285750">
              <a:buFont typeface="Arial" panose="020B0604020202020204" pitchFamily="34" charset="0"/>
              <a:buChar char="•"/>
            </a:pPr>
            <a:r>
              <a:rPr lang="en-US" dirty="0">
                <a:solidFill>
                  <a:schemeClr val="accent2">
                    <a:lumMod val="50000"/>
                  </a:schemeClr>
                </a:solidFill>
              </a:rPr>
              <a:t>single-ride passes </a:t>
            </a:r>
          </a:p>
          <a:p>
            <a:pPr marL="285750" indent="-285750">
              <a:buFont typeface="Arial" panose="020B0604020202020204" pitchFamily="34" charset="0"/>
              <a:buChar char="•"/>
            </a:pPr>
            <a:r>
              <a:rPr lang="en-US" dirty="0">
                <a:solidFill>
                  <a:schemeClr val="accent2">
                    <a:lumMod val="50000"/>
                  </a:schemeClr>
                </a:solidFill>
              </a:rPr>
              <a:t>full-day passes</a:t>
            </a:r>
          </a:p>
          <a:p>
            <a:pPr marL="285750" indent="-285750">
              <a:buFont typeface="Arial" panose="020B0604020202020204" pitchFamily="34" charset="0"/>
              <a:buChar char="•"/>
            </a:pPr>
            <a:r>
              <a:rPr lang="en-US" dirty="0">
                <a:solidFill>
                  <a:schemeClr val="accent2">
                    <a:lumMod val="50000"/>
                  </a:schemeClr>
                </a:solidFill>
              </a:rPr>
              <a:t>annual memberships.</a:t>
            </a:r>
          </a:p>
        </p:txBody>
      </p:sp>
      <p:sp>
        <p:nvSpPr>
          <p:cNvPr id="8" name="TextBox 7">
            <a:extLst>
              <a:ext uri="{FF2B5EF4-FFF2-40B4-BE49-F238E27FC236}">
                <a16:creationId xmlns:a16="http://schemas.microsoft.com/office/drawing/2014/main" id="{0383F115-C166-A624-9DCD-F1F0AA66C0FC}"/>
              </a:ext>
            </a:extLst>
          </p:cNvPr>
          <p:cNvSpPr txBox="1"/>
          <p:nvPr/>
        </p:nvSpPr>
        <p:spPr>
          <a:xfrm>
            <a:off x="8271166" y="1859339"/>
            <a:ext cx="3131127" cy="3139321"/>
          </a:xfrm>
          <a:prstGeom prst="rect">
            <a:avLst/>
          </a:prstGeom>
          <a:noFill/>
        </p:spPr>
        <p:txBody>
          <a:bodyPr wrap="square" rtlCol="0">
            <a:spAutoFit/>
          </a:bodyPr>
          <a:lstStyle/>
          <a:p>
            <a:pPr algn="ctr"/>
            <a:r>
              <a:rPr lang="en-US" b="1" u="sng" dirty="0">
                <a:solidFill>
                  <a:schemeClr val="accent2">
                    <a:lumMod val="50000"/>
                  </a:schemeClr>
                </a:solidFill>
              </a:rPr>
              <a:t>Rider Category</a:t>
            </a:r>
          </a:p>
          <a:p>
            <a:pPr algn="ctr"/>
            <a:endParaRPr lang="en-US" b="1" u="sng" dirty="0">
              <a:solidFill>
                <a:schemeClr val="accent2">
                  <a:lumMod val="50000"/>
                </a:schemeClr>
              </a:solidFill>
            </a:endParaRPr>
          </a:p>
          <a:p>
            <a:pPr algn="ctr"/>
            <a:r>
              <a:rPr lang="en-US" b="1" u="sng" dirty="0">
                <a:solidFill>
                  <a:schemeClr val="accent2">
                    <a:lumMod val="50000"/>
                  </a:schemeClr>
                </a:solidFill>
              </a:rPr>
              <a:t>Casual</a:t>
            </a:r>
          </a:p>
          <a:p>
            <a:r>
              <a:rPr lang="en-US" dirty="0">
                <a:solidFill>
                  <a:schemeClr val="accent2">
                    <a:lumMod val="50000"/>
                  </a:schemeClr>
                </a:solidFill>
              </a:rPr>
              <a:t>Customers who purchase single-ride or </a:t>
            </a:r>
            <a:r>
              <a:rPr lang="en-US" dirty="0" err="1">
                <a:solidFill>
                  <a:schemeClr val="accent2">
                    <a:lumMod val="50000"/>
                  </a:schemeClr>
                </a:solidFill>
              </a:rPr>
              <a:t>ful</a:t>
            </a:r>
            <a:r>
              <a:rPr lang="en-US" dirty="0">
                <a:solidFill>
                  <a:schemeClr val="accent2">
                    <a:lumMod val="50000"/>
                  </a:schemeClr>
                </a:solidFill>
              </a:rPr>
              <a:t>-day passes are referred to as casual riders. </a:t>
            </a:r>
          </a:p>
          <a:p>
            <a:endParaRPr lang="en-US" dirty="0">
              <a:solidFill>
                <a:schemeClr val="accent2">
                  <a:lumMod val="50000"/>
                </a:schemeClr>
              </a:solidFill>
            </a:endParaRPr>
          </a:p>
          <a:p>
            <a:pPr algn="ctr"/>
            <a:r>
              <a:rPr lang="en-US" b="1" u="sng" dirty="0">
                <a:solidFill>
                  <a:schemeClr val="accent2">
                    <a:lumMod val="50000"/>
                  </a:schemeClr>
                </a:solidFill>
              </a:rPr>
              <a:t>Member</a:t>
            </a:r>
          </a:p>
          <a:p>
            <a:r>
              <a:rPr lang="en-US" dirty="0">
                <a:solidFill>
                  <a:schemeClr val="accent2">
                    <a:lumMod val="50000"/>
                  </a:schemeClr>
                </a:solidFill>
              </a:rPr>
              <a:t>Customers who purchase annual memberships are </a:t>
            </a:r>
            <a:r>
              <a:rPr lang="en-US" dirty="0" err="1">
                <a:solidFill>
                  <a:schemeClr val="accent2">
                    <a:lumMod val="50000"/>
                  </a:schemeClr>
                </a:solidFill>
              </a:rPr>
              <a:t>Cyclistic</a:t>
            </a:r>
            <a:r>
              <a:rPr lang="en-US" dirty="0">
                <a:solidFill>
                  <a:schemeClr val="accent2">
                    <a:lumMod val="50000"/>
                  </a:schemeClr>
                </a:solidFill>
              </a:rPr>
              <a:t> members. </a:t>
            </a:r>
          </a:p>
        </p:txBody>
      </p:sp>
    </p:spTree>
    <p:extLst>
      <p:ext uri="{BB962C8B-B14F-4D97-AF65-F5344CB8AC3E}">
        <p14:creationId xmlns:p14="http://schemas.microsoft.com/office/powerpoint/2010/main" val="3038443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4B6531-F120-2912-DA5E-1F6EF6D4AE98}"/>
              </a:ext>
            </a:extLst>
          </p:cNvPr>
          <p:cNvSpPr txBox="1"/>
          <p:nvPr/>
        </p:nvSpPr>
        <p:spPr>
          <a:xfrm>
            <a:off x="1396721" y="693398"/>
            <a:ext cx="3506875" cy="584775"/>
          </a:xfrm>
          <a:prstGeom prst="rect">
            <a:avLst/>
          </a:prstGeom>
          <a:noFill/>
        </p:spPr>
        <p:txBody>
          <a:bodyPr wrap="square" rtlCol="0">
            <a:spAutoFit/>
          </a:bodyPr>
          <a:lstStyle/>
          <a:p>
            <a:r>
              <a:rPr lang="en-US" sz="3200" b="1" dirty="0">
                <a:solidFill>
                  <a:schemeClr val="accent2">
                    <a:lumMod val="50000"/>
                  </a:schemeClr>
                </a:solidFill>
              </a:rPr>
              <a:t>Business Challenge</a:t>
            </a:r>
          </a:p>
        </p:txBody>
      </p:sp>
      <p:sp>
        <p:nvSpPr>
          <p:cNvPr id="3" name="TextBox 2">
            <a:extLst>
              <a:ext uri="{FF2B5EF4-FFF2-40B4-BE49-F238E27FC236}">
                <a16:creationId xmlns:a16="http://schemas.microsoft.com/office/drawing/2014/main" id="{45F30106-5D41-95A4-9D30-351D9704CF63}"/>
              </a:ext>
            </a:extLst>
          </p:cNvPr>
          <p:cNvSpPr txBox="1"/>
          <p:nvPr/>
        </p:nvSpPr>
        <p:spPr>
          <a:xfrm>
            <a:off x="1286189" y="1736421"/>
            <a:ext cx="3727938"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accent2">
                    <a:lumMod val="50000"/>
                  </a:schemeClr>
                </a:solidFill>
              </a:rPr>
              <a:t>How annual members and casual riders differ.</a:t>
            </a:r>
          </a:p>
          <a:p>
            <a:pPr marL="285750" indent="-285750">
              <a:buFont typeface="Arial" panose="020B0604020202020204" pitchFamily="34" charset="0"/>
              <a:buChar char="•"/>
            </a:pPr>
            <a:r>
              <a:rPr lang="en-US" sz="2000" dirty="0">
                <a:solidFill>
                  <a:schemeClr val="accent2">
                    <a:lumMod val="50000"/>
                  </a:schemeClr>
                </a:solidFill>
              </a:rPr>
              <a:t>Why casual riders would buy a membership.</a:t>
            </a:r>
          </a:p>
          <a:p>
            <a:pPr marL="285750" indent="-285750">
              <a:buFont typeface="Arial" panose="020B0604020202020204" pitchFamily="34" charset="0"/>
              <a:buChar char="•"/>
            </a:pPr>
            <a:r>
              <a:rPr lang="en-US" sz="2000" dirty="0">
                <a:solidFill>
                  <a:schemeClr val="accent2">
                    <a:lumMod val="50000"/>
                  </a:schemeClr>
                </a:solidFill>
              </a:rPr>
              <a:t>Converting Casuals into Members is The key to future growth.</a:t>
            </a:r>
          </a:p>
          <a:p>
            <a:pPr marL="285750" indent="-285750">
              <a:buFont typeface="Arial" panose="020B0604020202020204" pitchFamily="34" charset="0"/>
              <a:buChar char="•"/>
            </a:pPr>
            <a:r>
              <a:rPr lang="en-US" sz="2000" dirty="0">
                <a:solidFill>
                  <a:schemeClr val="accent2">
                    <a:lumMod val="50000"/>
                  </a:schemeClr>
                </a:solidFill>
              </a:rPr>
              <a:t>How digital media could affect their marketing tactics.</a:t>
            </a:r>
          </a:p>
        </p:txBody>
      </p:sp>
      <p:sp>
        <p:nvSpPr>
          <p:cNvPr id="4" name="TextBox 3">
            <a:extLst>
              <a:ext uri="{FF2B5EF4-FFF2-40B4-BE49-F238E27FC236}">
                <a16:creationId xmlns:a16="http://schemas.microsoft.com/office/drawing/2014/main" id="{980A3DD6-7DB4-686D-551E-B3B89A6ADF7C}"/>
              </a:ext>
            </a:extLst>
          </p:cNvPr>
          <p:cNvSpPr txBox="1"/>
          <p:nvPr/>
        </p:nvSpPr>
        <p:spPr>
          <a:xfrm>
            <a:off x="7088961" y="693397"/>
            <a:ext cx="3506875" cy="584775"/>
          </a:xfrm>
          <a:prstGeom prst="rect">
            <a:avLst/>
          </a:prstGeom>
          <a:noFill/>
        </p:spPr>
        <p:txBody>
          <a:bodyPr wrap="square" rtlCol="0">
            <a:spAutoFit/>
          </a:bodyPr>
          <a:lstStyle/>
          <a:p>
            <a:r>
              <a:rPr lang="en-US" sz="3200" b="1" dirty="0">
                <a:solidFill>
                  <a:schemeClr val="accent2">
                    <a:lumMod val="50000"/>
                  </a:schemeClr>
                </a:solidFill>
              </a:rPr>
              <a:t>Our Goal</a:t>
            </a:r>
          </a:p>
        </p:txBody>
      </p:sp>
      <p:sp>
        <p:nvSpPr>
          <p:cNvPr id="5" name="TextBox 4">
            <a:extLst>
              <a:ext uri="{FF2B5EF4-FFF2-40B4-BE49-F238E27FC236}">
                <a16:creationId xmlns:a16="http://schemas.microsoft.com/office/drawing/2014/main" id="{0E7473DD-848B-E445-9E00-B4C41DE3FFDD}"/>
              </a:ext>
            </a:extLst>
          </p:cNvPr>
          <p:cNvSpPr txBox="1"/>
          <p:nvPr/>
        </p:nvSpPr>
        <p:spPr>
          <a:xfrm>
            <a:off x="6196483" y="1736421"/>
            <a:ext cx="3506875"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accent2">
                    <a:lumMod val="50000"/>
                  </a:schemeClr>
                </a:solidFill>
              </a:rPr>
              <a:t>Create metrics that indicate how Members and Casuals ride differently.</a:t>
            </a:r>
          </a:p>
          <a:p>
            <a:pPr marL="285750" indent="-285750">
              <a:buFont typeface="Arial" panose="020B0604020202020204" pitchFamily="34" charset="0"/>
              <a:buChar char="•"/>
            </a:pPr>
            <a:r>
              <a:rPr lang="en-US" sz="2000" dirty="0">
                <a:solidFill>
                  <a:schemeClr val="accent2">
                    <a:lumMod val="50000"/>
                  </a:schemeClr>
                </a:solidFill>
              </a:rPr>
              <a:t>Understand why Rider Category ride differently</a:t>
            </a:r>
          </a:p>
          <a:p>
            <a:pPr marL="285750" indent="-285750">
              <a:buFont typeface="Arial" panose="020B0604020202020204" pitchFamily="34" charset="0"/>
              <a:buChar char="•"/>
            </a:pPr>
            <a:r>
              <a:rPr lang="en-US" sz="2000" dirty="0">
                <a:solidFill>
                  <a:schemeClr val="accent2">
                    <a:lumMod val="50000"/>
                  </a:schemeClr>
                </a:solidFill>
              </a:rPr>
              <a:t>Improve conversion of casual into Members</a:t>
            </a:r>
          </a:p>
        </p:txBody>
      </p:sp>
    </p:spTree>
    <p:extLst>
      <p:ext uri="{BB962C8B-B14F-4D97-AF65-F5344CB8AC3E}">
        <p14:creationId xmlns:p14="http://schemas.microsoft.com/office/powerpoint/2010/main" val="1907533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469F5E-702D-F385-A837-08D53F730F59}"/>
              </a:ext>
            </a:extLst>
          </p:cNvPr>
          <p:cNvSpPr txBox="1"/>
          <p:nvPr/>
        </p:nvSpPr>
        <p:spPr>
          <a:xfrm>
            <a:off x="5613679" y="207969"/>
            <a:ext cx="1773382" cy="584775"/>
          </a:xfrm>
          <a:prstGeom prst="rect">
            <a:avLst/>
          </a:prstGeom>
          <a:noFill/>
        </p:spPr>
        <p:txBody>
          <a:bodyPr wrap="square" rtlCol="0">
            <a:spAutoFit/>
          </a:bodyPr>
          <a:lstStyle/>
          <a:p>
            <a:r>
              <a:rPr lang="en-US" sz="3200" b="1" dirty="0">
                <a:solidFill>
                  <a:schemeClr val="accent2">
                    <a:lumMod val="50000"/>
                  </a:schemeClr>
                </a:solidFill>
              </a:rPr>
              <a:t>Data</a:t>
            </a:r>
          </a:p>
        </p:txBody>
      </p:sp>
      <p:sp>
        <p:nvSpPr>
          <p:cNvPr id="4" name="TextBox 3">
            <a:extLst>
              <a:ext uri="{FF2B5EF4-FFF2-40B4-BE49-F238E27FC236}">
                <a16:creationId xmlns:a16="http://schemas.microsoft.com/office/drawing/2014/main" id="{CAFE5A50-9C0F-6D7C-0751-5C958BE20710}"/>
              </a:ext>
            </a:extLst>
          </p:cNvPr>
          <p:cNvSpPr txBox="1"/>
          <p:nvPr/>
        </p:nvSpPr>
        <p:spPr>
          <a:xfrm>
            <a:off x="530736" y="1611694"/>
            <a:ext cx="2521527" cy="1200329"/>
          </a:xfrm>
          <a:prstGeom prst="rect">
            <a:avLst/>
          </a:prstGeom>
          <a:noFill/>
        </p:spPr>
        <p:txBody>
          <a:bodyPr wrap="square" rtlCol="0">
            <a:spAutoFit/>
          </a:bodyPr>
          <a:lstStyle/>
          <a:p>
            <a:pPr algn="ctr"/>
            <a:r>
              <a:rPr lang="en-US" b="1" u="sng" dirty="0">
                <a:solidFill>
                  <a:schemeClr val="accent2">
                    <a:lumMod val="50000"/>
                  </a:schemeClr>
                </a:solidFill>
              </a:rPr>
              <a:t>Data Source</a:t>
            </a:r>
          </a:p>
          <a:p>
            <a:r>
              <a:rPr lang="en-US" dirty="0" err="1">
                <a:solidFill>
                  <a:schemeClr val="accent2">
                    <a:lumMod val="50000"/>
                  </a:schemeClr>
                </a:solidFill>
              </a:rPr>
              <a:t>Cyclistic’s</a:t>
            </a:r>
            <a:r>
              <a:rPr lang="en-US" dirty="0">
                <a:solidFill>
                  <a:schemeClr val="accent2">
                    <a:lumMod val="50000"/>
                  </a:schemeClr>
                </a:solidFill>
              </a:rPr>
              <a:t> historical data comes from Divvy’s public available data</a:t>
            </a:r>
          </a:p>
        </p:txBody>
      </p:sp>
      <p:sp>
        <p:nvSpPr>
          <p:cNvPr id="5" name="TextBox 4">
            <a:extLst>
              <a:ext uri="{FF2B5EF4-FFF2-40B4-BE49-F238E27FC236}">
                <a16:creationId xmlns:a16="http://schemas.microsoft.com/office/drawing/2014/main" id="{76E99A0A-3055-C2FF-B7EE-A2A38553B514}"/>
              </a:ext>
            </a:extLst>
          </p:cNvPr>
          <p:cNvSpPr txBox="1"/>
          <p:nvPr/>
        </p:nvSpPr>
        <p:spPr>
          <a:xfrm>
            <a:off x="322917" y="3445813"/>
            <a:ext cx="2937163" cy="1200329"/>
          </a:xfrm>
          <a:prstGeom prst="rect">
            <a:avLst/>
          </a:prstGeom>
          <a:noFill/>
        </p:spPr>
        <p:txBody>
          <a:bodyPr wrap="square" rtlCol="0">
            <a:spAutoFit/>
          </a:bodyPr>
          <a:lstStyle/>
          <a:p>
            <a:pPr algn="ctr"/>
            <a:r>
              <a:rPr lang="en-US" b="1" u="sng" dirty="0">
                <a:solidFill>
                  <a:schemeClr val="accent2">
                    <a:lumMod val="50000"/>
                  </a:schemeClr>
                </a:solidFill>
              </a:rPr>
              <a:t>Time Span</a:t>
            </a:r>
          </a:p>
          <a:p>
            <a:r>
              <a:rPr lang="en-US" dirty="0">
                <a:solidFill>
                  <a:schemeClr val="accent2">
                    <a:lumMod val="50000"/>
                  </a:schemeClr>
                </a:solidFill>
              </a:rPr>
              <a:t>The past 12 months of data includes Sept 2025 _ Aug 2026.</a:t>
            </a:r>
          </a:p>
        </p:txBody>
      </p:sp>
      <p:sp>
        <p:nvSpPr>
          <p:cNvPr id="6" name="TextBox 5">
            <a:extLst>
              <a:ext uri="{FF2B5EF4-FFF2-40B4-BE49-F238E27FC236}">
                <a16:creationId xmlns:a16="http://schemas.microsoft.com/office/drawing/2014/main" id="{968088C8-640F-05BC-579B-C6F315E036BB}"/>
              </a:ext>
            </a:extLst>
          </p:cNvPr>
          <p:cNvSpPr txBox="1"/>
          <p:nvPr/>
        </p:nvSpPr>
        <p:spPr>
          <a:xfrm>
            <a:off x="4768094" y="1617160"/>
            <a:ext cx="2521527" cy="1477328"/>
          </a:xfrm>
          <a:prstGeom prst="rect">
            <a:avLst/>
          </a:prstGeom>
          <a:noFill/>
        </p:spPr>
        <p:txBody>
          <a:bodyPr wrap="square" rtlCol="0">
            <a:spAutoFit/>
          </a:bodyPr>
          <a:lstStyle/>
          <a:p>
            <a:pPr algn="ctr"/>
            <a:r>
              <a:rPr lang="en-US" b="1" u="sng" dirty="0">
                <a:solidFill>
                  <a:schemeClr val="accent2">
                    <a:lumMod val="50000"/>
                  </a:schemeClr>
                </a:solidFill>
              </a:rPr>
              <a:t>Data Volume</a:t>
            </a:r>
          </a:p>
          <a:p>
            <a:r>
              <a:rPr lang="en-US" dirty="0">
                <a:solidFill>
                  <a:schemeClr val="accent2">
                    <a:lumMod val="50000"/>
                  </a:schemeClr>
                </a:solidFill>
              </a:rPr>
              <a:t>The merged data contains over 6012 million rows of data across 13 columns</a:t>
            </a:r>
          </a:p>
        </p:txBody>
      </p:sp>
      <p:sp>
        <p:nvSpPr>
          <p:cNvPr id="7" name="TextBox 6">
            <a:extLst>
              <a:ext uri="{FF2B5EF4-FFF2-40B4-BE49-F238E27FC236}">
                <a16:creationId xmlns:a16="http://schemas.microsoft.com/office/drawing/2014/main" id="{CBF5C906-5C2E-A2F4-9135-0D5424D48444}"/>
              </a:ext>
            </a:extLst>
          </p:cNvPr>
          <p:cNvSpPr txBox="1"/>
          <p:nvPr/>
        </p:nvSpPr>
        <p:spPr>
          <a:xfrm>
            <a:off x="4684966" y="3445813"/>
            <a:ext cx="2687781" cy="1477328"/>
          </a:xfrm>
          <a:prstGeom prst="rect">
            <a:avLst/>
          </a:prstGeom>
          <a:noFill/>
        </p:spPr>
        <p:txBody>
          <a:bodyPr wrap="square" rtlCol="0">
            <a:spAutoFit/>
          </a:bodyPr>
          <a:lstStyle/>
          <a:p>
            <a:pPr algn="ctr"/>
            <a:r>
              <a:rPr lang="en-US" b="1" u="sng" dirty="0">
                <a:solidFill>
                  <a:schemeClr val="accent2">
                    <a:lumMod val="50000"/>
                  </a:schemeClr>
                </a:solidFill>
              </a:rPr>
              <a:t>Data Integrity</a:t>
            </a:r>
          </a:p>
          <a:p>
            <a:r>
              <a:rPr lang="en-US" dirty="0">
                <a:solidFill>
                  <a:schemeClr val="accent2">
                    <a:lumMod val="50000"/>
                  </a:schemeClr>
                </a:solidFill>
              </a:rPr>
              <a:t>The 1</a:t>
            </a:r>
            <a:r>
              <a:rPr lang="en-US" baseline="30000" dirty="0">
                <a:solidFill>
                  <a:schemeClr val="accent2">
                    <a:lumMod val="50000"/>
                  </a:schemeClr>
                </a:solidFill>
              </a:rPr>
              <a:t>st</a:t>
            </a:r>
            <a:r>
              <a:rPr lang="en-US" dirty="0">
                <a:solidFill>
                  <a:schemeClr val="accent2">
                    <a:lumMod val="50000"/>
                  </a:schemeClr>
                </a:solidFill>
              </a:rPr>
              <a:t> party data comes from a trustworthy source, vetted by Google as fit for use.</a:t>
            </a:r>
          </a:p>
        </p:txBody>
      </p:sp>
      <p:sp>
        <p:nvSpPr>
          <p:cNvPr id="8" name="TextBox 7">
            <a:extLst>
              <a:ext uri="{FF2B5EF4-FFF2-40B4-BE49-F238E27FC236}">
                <a16:creationId xmlns:a16="http://schemas.microsoft.com/office/drawing/2014/main" id="{209B2910-23F7-71D5-92AC-BD2CFE1057BD}"/>
              </a:ext>
            </a:extLst>
          </p:cNvPr>
          <p:cNvSpPr txBox="1"/>
          <p:nvPr/>
        </p:nvSpPr>
        <p:spPr>
          <a:xfrm>
            <a:off x="9139739" y="1611694"/>
            <a:ext cx="2572686" cy="3693319"/>
          </a:xfrm>
          <a:prstGeom prst="rect">
            <a:avLst/>
          </a:prstGeom>
          <a:noFill/>
        </p:spPr>
        <p:txBody>
          <a:bodyPr wrap="square" rtlCol="0">
            <a:spAutoFit/>
          </a:bodyPr>
          <a:lstStyle/>
          <a:p>
            <a:pPr algn="ctr"/>
            <a:r>
              <a:rPr lang="en-US" b="1" u="sng" dirty="0">
                <a:solidFill>
                  <a:schemeClr val="accent2">
                    <a:lumMod val="50000"/>
                  </a:schemeClr>
                </a:solidFill>
              </a:rPr>
              <a:t>Data limitations</a:t>
            </a:r>
          </a:p>
          <a:p>
            <a:pPr marL="285750" indent="-285750">
              <a:buFont typeface="Arial" panose="020B0604020202020204" pitchFamily="34" charset="0"/>
              <a:buChar char="•"/>
            </a:pPr>
            <a:r>
              <a:rPr lang="en-US" dirty="0">
                <a:solidFill>
                  <a:schemeClr val="accent2">
                    <a:lumMod val="50000"/>
                  </a:schemeClr>
                </a:solidFill>
              </a:rPr>
              <a:t>Data privacy issues prohibit including riders personally identifiable information</a:t>
            </a:r>
          </a:p>
          <a:p>
            <a:pPr marL="285750" indent="-285750">
              <a:buFont typeface="Arial" panose="020B0604020202020204" pitchFamily="34" charset="0"/>
              <a:buChar char="•"/>
            </a:pPr>
            <a:r>
              <a:rPr lang="en-US" dirty="0">
                <a:solidFill>
                  <a:schemeClr val="accent2">
                    <a:lumMod val="50000"/>
                  </a:schemeClr>
                </a:solidFill>
              </a:rPr>
              <a:t>Null values in the Station names</a:t>
            </a:r>
          </a:p>
          <a:p>
            <a:pPr marL="285750" indent="-285750">
              <a:buFont typeface="Arial" panose="020B0604020202020204" pitchFamily="34" charset="0"/>
              <a:buChar char="•"/>
            </a:pPr>
            <a:r>
              <a:rPr lang="en-US" dirty="0">
                <a:solidFill>
                  <a:schemeClr val="accent2">
                    <a:lumMod val="50000"/>
                  </a:schemeClr>
                </a:solidFill>
              </a:rPr>
              <a:t>Timestamp errors in dataset</a:t>
            </a:r>
          </a:p>
          <a:p>
            <a:pPr marL="285750" indent="-285750">
              <a:buFont typeface="Arial" panose="020B0604020202020204" pitchFamily="34" charset="0"/>
              <a:buChar char="•"/>
            </a:pPr>
            <a:r>
              <a:rPr lang="en-US" dirty="0">
                <a:solidFill>
                  <a:schemeClr val="accent2">
                    <a:lumMod val="50000"/>
                  </a:schemeClr>
                </a:solidFill>
              </a:rPr>
              <a:t>Missing information on which pass each rider category chose</a:t>
            </a:r>
          </a:p>
        </p:txBody>
      </p:sp>
    </p:spTree>
    <p:extLst>
      <p:ext uri="{BB962C8B-B14F-4D97-AF65-F5344CB8AC3E}">
        <p14:creationId xmlns:p14="http://schemas.microsoft.com/office/powerpoint/2010/main" val="603585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2" name="slide2" descr="Overview">
            <a:extLst>
              <a:ext uri="{FF2B5EF4-FFF2-40B4-BE49-F238E27FC236}">
                <a16:creationId xmlns:a16="http://schemas.microsoft.com/office/drawing/2014/main" id="{F54E814B-1885-49B0-8818-B24730FD4B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856" y="0"/>
            <a:ext cx="8574288" cy="6858000"/>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3" name="slide3" descr="Month analysis">
            <a:extLst>
              <a:ext uri="{FF2B5EF4-FFF2-40B4-BE49-F238E27FC236}">
                <a16:creationId xmlns:a16="http://schemas.microsoft.com/office/drawing/2014/main" id="{0B4E37FD-63E6-45B6-84B8-3731DEFA80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856" y="0"/>
            <a:ext cx="8574288" cy="6858000"/>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slide4" descr="Weekday analysis">
            <a:extLst>
              <a:ext uri="{FF2B5EF4-FFF2-40B4-BE49-F238E27FC236}">
                <a16:creationId xmlns:a16="http://schemas.microsoft.com/office/drawing/2014/main" id="{E40A99D1-6FBC-40A8-B21B-5C3F58E9B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856" y="0"/>
            <a:ext cx="8574288" cy="6858000"/>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5" name="slide5" descr="Hour analysis">
            <a:extLst>
              <a:ext uri="{FF2B5EF4-FFF2-40B4-BE49-F238E27FC236}">
                <a16:creationId xmlns:a16="http://schemas.microsoft.com/office/drawing/2014/main" id="{E47A114F-B8A3-4372-8C10-24DA31B26C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856" y="0"/>
            <a:ext cx="8574288" cy="6858000"/>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6" name="slide6" descr="Stations">
            <a:extLst>
              <a:ext uri="{FF2B5EF4-FFF2-40B4-BE49-F238E27FC236}">
                <a16:creationId xmlns:a16="http://schemas.microsoft.com/office/drawing/2014/main" id="{7028CEFA-11BE-4580-A753-4D02485633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856" y="0"/>
            <a:ext cx="8574288" cy="6858000"/>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67FF7B-5B3A-F5F6-ABAC-EAD0B7E4C5E6}"/>
              </a:ext>
            </a:extLst>
          </p:cNvPr>
          <p:cNvSpPr txBox="1"/>
          <p:nvPr/>
        </p:nvSpPr>
        <p:spPr>
          <a:xfrm>
            <a:off x="4443678" y="139421"/>
            <a:ext cx="4714875" cy="584775"/>
          </a:xfrm>
          <a:prstGeom prst="rect">
            <a:avLst/>
          </a:prstGeom>
          <a:noFill/>
        </p:spPr>
        <p:txBody>
          <a:bodyPr wrap="square" rtlCol="0">
            <a:spAutoFit/>
          </a:bodyPr>
          <a:lstStyle/>
          <a:p>
            <a:pPr algn="ctr"/>
            <a:r>
              <a:rPr lang="en-US" sz="3200" b="1" dirty="0">
                <a:solidFill>
                  <a:schemeClr val="accent2">
                    <a:lumMod val="50000"/>
                  </a:schemeClr>
                </a:solidFill>
              </a:rPr>
              <a:t>Key Findings</a:t>
            </a:r>
          </a:p>
        </p:txBody>
      </p:sp>
      <p:sp>
        <p:nvSpPr>
          <p:cNvPr id="3" name="TextBox 2">
            <a:extLst>
              <a:ext uri="{FF2B5EF4-FFF2-40B4-BE49-F238E27FC236}">
                <a16:creationId xmlns:a16="http://schemas.microsoft.com/office/drawing/2014/main" id="{6773DA69-735C-6DEB-1F18-AE3F0886319A}"/>
              </a:ext>
            </a:extLst>
          </p:cNvPr>
          <p:cNvSpPr txBox="1"/>
          <p:nvPr/>
        </p:nvSpPr>
        <p:spPr>
          <a:xfrm>
            <a:off x="0" y="789325"/>
            <a:ext cx="5621418" cy="2308324"/>
          </a:xfrm>
          <a:prstGeom prst="rect">
            <a:avLst/>
          </a:prstGeom>
          <a:noFill/>
        </p:spPr>
        <p:txBody>
          <a:bodyPr wrap="square" rtlCol="0">
            <a:spAutoFit/>
          </a:bodyPr>
          <a:lstStyle/>
          <a:p>
            <a:pPr lvl="0" algn="ctr"/>
            <a:r>
              <a:rPr lang="en-US" b="1" u="sng" dirty="0">
                <a:solidFill>
                  <a:schemeClr val="accent2">
                    <a:lumMod val="50000"/>
                  </a:schemeClr>
                </a:solidFill>
              </a:rPr>
              <a:t>Rides</a:t>
            </a:r>
          </a:p>
          <a:p>
            <a:pPr marL="742950" lvl="1" indent="-285750">
              <a:buFont typeface="Arial" panose="020B0604020202020204" pitchFamily="34" charset="0"/>
              <a:buChar char="•"/>
            </a:pPr>
            <a:r>
              <a:rPr lang="en-US" dirty="0">
                <a:solidFill>
                  <a:schemeClr val="accent2">
                    <a:lumMod val="50000"/>
                  </a:schemeClr>
                </a:solidFill>
              </a:rPr>
              <a:t>Casual riders average almost double the trip length of members (20.45 min vs. 12.34 min)</a:t>
            </a:r>
          </a:p>
          <a:p>
            <a:pPr marL="742950" lvl="1" indent="-285750">
              <a:buFont typeface="Arial" panose="020B0604020202020204" pitchFamily="34" charset="0"/>
              <a:buChar char="•"/>
            </a:pPr>
            <a:r>
              <a:rPr lang="en-US" dirty="0">
                <a:solidFill>
                  <a:schemeClr val="accent2">
                    <a:lumMod val="50000"/>
                  </a:schemeClr>
                </a:solidFill>
              </a:rPr>
              <a:t>Casual ride times are far more unpredictable — </a:t>
            </a:r>
            <a:r>
              <a:rPr lang="en-US" dirty="0" err="1">
                <a:solidFill>
                  <a:schemeClr val="accent2">
                    <a:lumMod val="50000"/>
                  </a:schemeClr>
                </a:solidFill>
              </a:rPr>
              <a:t>stddev</a:t>
            </a:r>
            <a:r>
              <a:rPr lang="en-US" dirty="0">
                <a:solidFill>
                  <a:schemeClr val="accent2">
                    <a:lumMod val="50000"/>
                  </a:schemeClr>
                </a:solidFill>
              </a:rPr>
              <a:t> (42.86) is more than double the average itself, pointing to a handful of very long outlier trips rather than a typical usage pattern</a:t>
            </a:r>
          </a:p>
          <a:p>
            <a:pPr marL="285750" indent="-285750">
              <a:buFont typeface="Arial" panose="020B0604020202020204" pitchFamily="34" charset="0"/>
              <a:buChar char="•"/>
            </a:pPr>
            <a:endParaRPr lang="en-US" dirty="0">
              <a:solidFill>
                <a:schemeClr val="accent2">
                  <a:lumMod val="50000"/>
                </a:schemeClr>
              </a:solidFill>
            </a:endParaRPr>
          </a:p>
        </p:txBody>
      </p:sp>
      <p:sp>
        <p:nvSpPr>
          <p:cNvPr id="4" name="TextBox 3">
            <a:extLst>
              <a:ext uri="{FF2B5EF4-FFF2-40B4-BE49-F238E27FC236}">
                <a16:creationId xmlns:a16="http://schemas.microsoft.com/office/drawing/2014/main" id="{4DE931E1-33F4-AE6C-51E8-E9D6925D6B11}"/>
              </a:ext>
            </a:extLst>
          </p:cNvPr>
          <p:cNvSpPr txBox="1"/>
          <p:nvPr/>
        </p:nvSpPr>
        <p:spPr>
          <a:xfrm>
            <a:off x="6801116" y="789325"/>
            <a:ext cx="5390883" cy="3139321"/>
          </a:xfrm>
          <a:prstGeom prst="rect">
            <a:avLst/>
          </a:prstGeom>
          <a:noFill/>
        </p:spPr>
        <p:txBody>
          <a:bodyPr wrap="square" rtlCol="0">
            <a:spAutoFit/>
          </a:bodyPr>
          <a:lstStyle/>
          <a:p>
            <a:pPr lvl="0" algn="ctr"/>
            <a:r>
              <a:rPr lang="en-US" b="1" u="sng" dirty="0">
                <a:solidFill>
                  <a:schemeClr val="accent2">
                    <a:lumMod val="50000"/>
                  </a:schemeClr>
                </a:solidFill>
              </a:rPr>
              <a:t>When they ride — seasonal</a:t>
            </a:r>
          </a:p>
          <a:p>
            <a:pPr marL="742950" lvl="1" indent="-285750">
              <a:buFont typeface="Arial" panose="020B0604020202020204" pitchFamily="34" charset="0"/>
              <a:buChar char="•"/>
            </a:pPr>
            <a:r>
              <a:rPr lang="en-US" dirty="0">
                <a:solidFill>
                  <a:schemeClr val="accent2">
                    <a:lumMod val="50000"/>
                  </a:schemeClr>
                </a:solidFill>
              </a:rPr>
              <a:t>Members ride fairly consistently year-round (60–83% share), while casual share more than doubles across the year (17% in winter to 40% in summer) — the seasonal surge is driven disproportionately by leisure riders, not commuters.</a:t>
            </a:r>
          </a:p>
          <a:p>
            <a:pPr marL="742950" lvl="1" indent="-285750">
              <a:buFont typeface="Arial" panose="020B0604020202020204" pitchFamily="34" charset="0"/>
              <a:buChar char="•"/>
            </a:pPr>
            <a:r>
              <a:rPr lang="en-US" dirty="0">
                <a:solidFill>
                  <a:schemeClr val="accent2">
                    <a:lumMod val="50000"/>
                  </a:schemeClr>
                </a:solidFill>
              </a:rPr>
              <a:t>Ridership triples from winter to summer — Seasonality Index bottoms out around 25–30 in Dec/Jan and peaks near 165–168 in July</a:t>
            </a:r>
          </a:p>
          <a:p>
            <a:endParaRPr lang="en-US" dirty="0">
              <a:solidFill>
                <a:schemeClr val="accent2">
                  <a:lumMod val="50000"/>
                </a:schemeClr>
              </a:solidFill>
            </a:endParaRPr>
          </a:p>
        </p:txBody>
      </p:sp>
      <p:sp>
        <p:nvSpPr>
          <p:cNvPr id="5" name="TextBox 4">
            <a:extLst>
              <a:ext uri="{FF2B5EF4-FFF2-40B4-BE49-F238E27FC236}">
                <a16:creationId xmlns:a16="http://schemas.microsoft.com/office/drawing/2014/main" id="{89CA56FA-DF27-F388-C678-22F4D5C70E4B}"/>
              </a:ext>
            </a:extLst>
          </p:cNvPr>
          <p:cNvSpPr txBox="1"/>
          <p:nvPr/>
        </p:nvSpPr>
        <p:spPr>
          <a:xfrm>
            <a:off x="0" y="2984360"/>
            <a:ext cx="5506497" cy="2031325"/>
          </a:xfrm>
          <a:prstGeom prst="rect">
            <a:avLst/>
          </a:prstGeom>
          <a:noFill/>
        </p:spPr>
        <p:txBody>
          <a:bodyPr wrap="square" rtlCol="0">
            <a:spAutoFit/>
          </a:bodyPr>
          <a:lstStyle/>
          <a:p>
            <a:pPr lvl="0" algn="ctr"/>
            <a:r>
              <a:rPr lang="en-US" b="1" u="sng" dirty="0">
                <a:solidFill>
                  <a:schemeClr val="accent2">
                    <a:lumMod val="50000"/>
                  </a:schemeClr>
                </a:solidFill>
              </a:rPr>
              <a:t>When they ride — weekly</a:t>
            </a:r>
          </a:p>
          <a:p>
            <a:pPr lvl="1"/>
            <a:r>
              <a:rPr lang="en-US" dirty="0">
                <a:solidFill>
                  <a:schemeClr val="accent2">
                    <a:lumMod val="50000"/>
                  </a:schemeClr>
                </a:solidFill>
              </a:rPr>
              <a:t>Members peak midweek (Tuesday–Wednesday, ~73% share)</a:t>
            </a:r>
          </a:p>
          <a:p>
            <a:pPr lvl="1"/>
            <a:r>
              <a:rPr lang="en-US" dirty="0">
                <a:solidFill>
                  <a:schemeClr val="accent2">
                    <a:lumMod val="50000"/>
                  </a:schemeClr>
                </a:solidFill>
              </a:rPr>
              <a:t>casual riders peak on weekends (~45–48% share on Sat/Sun) — a clean commuter-vs-leisure split.</a:t>
            </a:r>
          </a:p>
          <a:p>
            <a:br>
              <a:rPr lang="en-US" dirty="0">
                <a:solidFill>
                  <a:schemeClr val="accent2">
                    <a:lumMod val="50000"/>
                  </a:schemeClr>
                </a:solidFill>
              </a:rPr>
            </a:br>
            <a:endParaRPr lang="en-US" dirty="0">
              <a:solidFill>
                <a:schemeClr val="accent2">
                  <a:lumMod val="50000"/>
                </a:schemeClr>
              </a:solidFill>
            </a:endParaRPr>
          </a:p>
        </p:txBody>
      </p:sp>
      <p:sp>
        <p:nvSpPr>
          <p:cNvPr id="6" name="TextBox 5">
            <a:extLst>
              <a:ext uri="{FF2B5EF4-FFF2-40B4-BE49-F238E27FC236}">
                <a16:creationId xmlns:a16="http://schemas.microsoft.com/office/drawing/2014/main" id="{740D8B79-86DA-A06D-F165-A604AF8EFAE5}"/>
              </a:ext>
            </a:extLst>
          </p:cNvPr>
          <p:cNvSpPr txBox="1"/>
          <p:nvPr/>
        </p:nvSpPr>
        <p:spPr>
          <a:xfrm>
            <a:off x="0" y="4687254"/>
            <a:ext cx="5409015" cy="2031325"/>
          </a:xfrm>
          <a:prstGeom prst="rect">
            <a:avLst/>
          </a:prstGeom>
          <a:noFill/>
        </p:spPr>
        <p:txBody>
          <a:bodyPr wrap="square" rtlCol="0">
            <a:spAutoFit/>
          </a:bodyPr>
          <a:lstStyle/>
          <a:p>
            <a:pPr lvl="0" algn="ctr"/>
            <a:r>
              <a:rPr lang="en-US" b="1" u="sng" dirty="0">
                <a:solidFill>
                  <a:schemeClr val="accent2">
                    <a:lumMod val="50000"/>
                  </a:schemeClr>
                </a:solidFill>
              </a:rPr>
              <a:t>When they ride — hourly</a:t>
            </a:r>
          </a:p>
          <a:p>
            <a:pPr lvl="1"/>
            <a:r>
              <a:rPr lang="en-US" dirty="0">
                <a:solidFill>
                  <a:schemeClr val="accent2">
                    <a:lumMod val="50000"/>
                  </a:schemeClr>
                </a:solidFill>
              </a:rPr>
              <a:t>Members show two sharp commute peaks (~8 AM, ~5 PM)</a:t>
            </a:r>
          </a:p>
          <a:p>
            <a:pPr lvl="1"/>
            <a:r>
              <a:rPr lang="en-US" dirty="0">
                <a:solidFill>
                  <a:schemeClr val="accent2">
                    <a:lumMod val="50000"/>
                  </a:schemeClr>
                </a:solidFill>
              </a:rPr>
              <a:t>casual riders show one smooth midday-to-evening rise — the clearest visual proof of the commuter-vs-leisure divide in the whole analysis.</a:t>
            </a:r>
          </a:p>
          <a:p>
            <a:endParaRPr lang="en-US" dirty="0">
              <a:solidFill>
                <a:schemeClr val="accent2">
                  <a:lumMod val="50000"/>
                </a:schemeClr>
              </a:solidFill>
            </a:endParaRPr>
          </a:p>
        </p:txBody>
      </p:sp>
      <p:sp>
        <p:nvSpPr>
          <p:cNvPr id="7" name="TextBox 6">
            <a:extLst>
              <a:ext uri="{FF2B5EF4-FFF2-40B4-BE49-F238E27FC236}">
                <a16:creationId xmlns:a16="http://schemas.microsoft.com/office/drawing/2014/main" id="{030FB8A4-55F5-F45F-384A-D5CCED80C30E}"/>
              </a:ext>
            </a:extLst>
          </p:cNvPr>
          <p:cNvSpPr txBox="1"/>
          <p:nvPr/>
        </p:nvSpPr>
        <p:spPr>
          <a:xfrm>
            <a:off x="7088062" y="3928646"/>
            <a:ext cx="5103938" cy="2585323"/>
          </a:xfrm>
          <a:prstGeom prst="rect">
            <a:avLst/>
          </a:prstGeom>
          <a:noFill/>
        </p:spPr>
        <p:txBody>
          <a:bodyPr wrap="square" rtlCol="0">
            <a:spAutoFit/>
          </a:bodyPr>
          <a:lstStyle/>
          <a:p>
            <a:pPr lvl="0" algn="ctr"/>
            <a:r>
              <a:rPr lang="en-US" b="1" u="sng" dirty="0">
                <a:solidFill>
                  <a:schemeClr val="accent2">
                    <a:lumMod val="50000"/>
                  </a:schemeClr>
                </a:solidFill>
              </a:rPr>
              <a:t>Where they ride</a:t>
            </a:r>
          </a:p>
          <a:p>
            <a:pPr lvl="1"/>
            <a:r>
              <a:rPr lang="en-US" dirty="0">
                <a:solidFill>
                  <a:schemeClr val="accent2">
                    <a:lumMod val="50000"/>
                  </a:schemeClr>
                </a:solidFill>
              </a:rPr>
              <a:t>Zero overlap between top-10 stations by rider type. Casual riders cluster at lakefront/tourist landmarks (Navy Pier alone = 3.34% of all casual rides — over 6x the next station); members cluster at downtown business-district intersections with a much flatter distribution (top member station only 0.76%)</a:t>
            </a:r>
          </a:p>
          <a:p>
            <a:endParaRPr lang="en-US" dirty="0">
              <a:solidFill>
                <a:schemeClr val="accent2">
                  <a:lumMod val="50000"/>
                </a:schemeClr>
              </a:solidFill>
            </a:endParaRPr>
          </a:p>
        </p:txBody>
      </p:sp>
    </p:spTree>
    <p:extLst>
      <p:ext uri="{BB962C8B-B14F-4D97-AF65-F5344CB8AC3E}">
        <p14:creationId xmlns:p14="http://schemas.microsoft.com/office/powerpoint/2010/main" val="1264517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C81E6F-3D59-8E3B-18C6-BCC990B805B3}"/>
              </a:ext>
            </a:extLst>
          </p:cNvPr>
          <p:cNvSpPr txBox="1"/>
          <p:nvPr/>
        </p:nvSpPr>
        <p:spPr>
          <a:xfrm>
            <a:off x="5126856" y="80387"/>
            <a:ext cx="3366050" cy="584775"/>
          </a:xfrm>
          <a:prstGeom prst="rect">
            <a:avLst/>
          </a:prstGeom>
          <a:noFill/>
        </p:spPr>
        <p:txBody>
          <a:bodyPr wrap="none" rtlCol="0">
            <a:spAutoFit/>
          </a:bodyPr>
          <a:lstStyle/>
          <a:p>
            <a:r>
              <a:rPr lang="en-US" sz="3200" b="1" u="sng" dirty="0">
                <a:solidFill>
                  <a:schemeClr val="accent2">
                    <a:lumMod val="50000"/>
                  </a:schemeClr>
                </a:solidFill>
              </a:rPr>
              <a:t>Recommendations</a:t>
            </a:r>
            <a:endParaRPr lang="en-US" b="1" u="sng" dirty="0">
              <a:solidFill>
                <a:schemeClr val="accent2">
                  <a:lumMod val="50000"/>
                </a:schemeClr>
              </a:solidFill>
            </a:endParaRPr>
          </a:p>
        </p:txBody>
      </p:sp>
      <p:sp>
        <p:nvSpPr>
          <p:cNvPr id="3" name="TextBox 2">
            <a:extLst>
              <a:ext uri="{FF2B5EF4-FFF2-40B4-BE49-F238E27FC236}">
                <a16:creationId xmlns:a16="http://schemas.microsoft.com/office/drawing/2014/main" id="{38EA44DC-D841-BF59-83CF-05A48727AA40}"/>
              </a:ext>
            </a:extLst>
          </p:cNvPr>
          <p:cNvSpPr txBox="1"/>
          <p:nvPr/>
        </p:nvSpPr>
        <p:spPr>
          <a:xfrm>
            <a:off x="452176" y="1213393"/>
            <a:ext cx="4481335" cy="2308324"/>
          </a:xfrm>
          <a:prstGeom prst="rect">
            <a:avLst/>
          </a:prstGeom>
          <a:noFill/>
        </p:spPr>
        <p:txBody>
          <a:bodyPr wrap="square" rtlCol="0">
            <a:spAutoFit/>
          </a:bodyPr>
          <a:lstStyle/>
          <a:p>
            <a:pPr lvl="0" algn="ctr"/>
            <a:r>
              <a:rPr lang="en-US" b="1" u="sng" dirty="0">
                <a:solidFill>
                  <a:schemeClr val="accent2">
                    <a:lumMod val="50000"/>
                  </a:schemeClr>
                </a:solidFill>
              </a:rPr>
              <a:t>Station‑Level Targeting</a:t>
            </a:r>
          </a:p>
          <a:p>
            <a:pPr lvl="1"/>
            <a:r>
              <a:rPr lang="en-US" dirty="0">
                <a:solidFill>
                  <a:schemeClr val="accent2">
                    <a:lumMod val="50000"/>
                  </a:schemeClr>
                </a:solidFill>
              </a:rPr>
              <a:t>Focus conversion prompts at high‑traffic casual hubs such as Navy Pier, Millennium Park, and other top stations, rather than citywide. This ensures messaging reaches riders where casual usage is most concentrated</a:t>
            </a:r>
          </a:p>
          <a:p>
            <a:endParaRPr lang="en-US" dirty="0">
              <a:solidFill>
                <a:schemeClr val="accent2">
                  <a:lumMod val="50000"/>
                </a:schemeClr>
              </a:solidFill>
            </a:endParaRPr>
          </a:p>
        </p:txBody>
      </p:sp>
      <p:sp>
        <p:nvSpPr>
          <p:cNvPr id="4" name="TextBox 3">
            <a:extLst>
              <a:ext uri="{FF2B5EF4-FFF2-40B4-BE49-F238E27FC236}">
                <a16:creationId xmlns:a16="http://schemas.microsoft.com/office/drawing/2014/main" id="{B2D663CF-73C4-C5B2-6A7E-D4ADEC425455}"/>
              </a:ext>
            </a:extLst>
          </p:cNvPr>
          <p:cNvSpPr txBox="1"/>
          <p:nvPr/>
        </p:nvSpPr>
        <p:spPr>
          <a:xfrm>
            <a:off x="773721" y="3818604"/>
            <a:ext cx="4353135" cy="2308324"/>
          </a:xfrm>
          <a:prstGeom prst="rect">
            <a:avLst/>
          </a:prstGeom>
          <a:noFill/>
        </p:spPr>
        <p:txBody>
          <a:bodyPr wrap="square" rtlCol="0">
            <a:spAutoFit/>
          </a:bodyPr>
          <a:lstStyle/>
          <a:p>
            <a:pPr lvl="0" algn="ctr"/>
            <a:r>
              <a:rPr lang="en-US" b="1" u="sng" dirty="0">
                <a:solidFill>
                  <a:schemeClr val="accent2">
                    <a:lumMod val="50000"/>
                  </a:schemeClr>
                </a:solidFill>
              </a:rPr>
              <a:t>Seasonal Timing</a:t>
            </a:r>
          </a:p>
          <a:p>
            <a:pPr lvl="1"/>
            <a:r>
              <a:rPr lang="en-US" dirty="0">
                <a:solidFill>
                  <a:schemeClr val="accent2">
                    <a:lumMod val="50000"/>
                  </a:schemeClr>
                </a:solidFill>
              </a:rPr>
              <a:t>Launch campaigns in spring (April–May), just before the summer surge. This captures casual riders as their activity begins to climb, maximizing impact before peak season.</a:t>
            </a:r>
          </a:p>
          <a:p>
            <a:br>
              <a:rPr lang="en-US" dirty="0">
                <a:solidFill>
                  <a:schemeClr val="accent2">
                    <a:lumMod val="50000"/>
                  </a:schemeClr>
                </a:solidFill>
              </a:rPr>
            </a:br>
            <a:endParaRPr lang="en-US" dirty="0">
              <a:solidFill>
                <a:schemeClr val="accent2">
                  <a:lumMod val="50000"/>
                </a:schemeClr>
              </a:solidFill>
            </a:endParaRPr>
          </a:p>
        </p:txBody>
      </p:sp>
      <p:sp>
        <p:nvSpPr>
          <p:cNvPr id="5" name="TextBox 4">
            <a:extLst>
              <a:ext uri="{FF2B5EF4-FFF2-40B4-BE49-F238E27FC236}">
                <a16:creationId xmlns:a16="http://schemas.microsoft.com/office/drawing/2014/main" id="{6D938997-E6C8-0A52-EE40-6EC5C5E15A5B}"/>
              </a:ext>
            </a:extLst>
          </p:cNvPr>
          <p:cNvSpPr txBox="1"/>
          <p:nvPr/>
        </p:nvSpPr>
        <p:spPr>
          <a:xfrm>
            <a:off x="7065142" y="1213393"/>
            <a:ext cx="4381081" cy="2308324"/>
          </a:xfrm>
          <a:prstGeom prst="rect">
            <a:avLst/>
          </a:prstGeom>
          <a:noFill/>
        </p:spPr>
        <p:txBody>
          <a:bodyPr wrap="square" rtlCol="0">
            <a:spAutoFit/>
          </a:bodyPr>
          <a:lstStyle/>
          <a:p>
            <a:pPr lvl="0" algn="ctr"/>
            <a:r>
              <a:rPr lang="en-US" b="1" u="sng" dirty="0">
                <a:solidFill>
                  <a:schemeClr val="accent2">
                    <a:lumMod val="50000"/>
                  </a:schemeClr>
                </a:solidFill>
              </a:rPr>
              <a:t>Leisure‑Oriented Membership Tier</a:t>
            </a:r>
          </a:p>
          <a:p>
            <a:pPr lvl="1"/>
            <a:r>
              <a:rPr lang="en-US" dirty="0">
                <a:solidFill>
                  <a:schemeClr val="accent2">
                    <a:lumMod val="50000"/>
                  </a:schemeClr>
                </a:solidFill>
              </a:rPr>
              <a:t>Create a special membership for riders who use bikes mainly for fun or weekend trips. Instead of focusing on commuter savings, highlight affordable options for longer, occasional leisure rides.</a:t>
            </a:r>
          </a:p>
          <a:p>
            <a:endParaRPr lang="en-US" dirty="0">
              <a:solidFill>
                <a:schemeClr val="accent2">
                  <a:lumMod val="50000"/>
                </a:schemeClr>
              </a:solidFill>
            </a:endParaRPr>
          </a:p>
        </p:txBody>
      </p:sp>
      <p:sp>
        <p:nvSpPr>
          <p:cNvPr id="6" name="TextBox 5">
            <a:extLst>
              <a:ext uri="{FF2B5EF4-FFF2-40B4-BE49-F238E27FC236}">
                <a16:creationId xmlns:a16="http://schemas.microsoft.com/office/drawing/2014/main" id="{A2B9D33C-3474-A7CF-C9FD-78A154DE632F}"/>
              </a:ext>
            </a:extLst>
          </p:cNvPr>
          <p:cNvSpPr txBox="1"/>
          <p:nvPr/>
        </p:nvSpPr>
        <p:spPr>
          <a:xfrm>
            <a:off x="6944563" y="3818604"/>
            <a:ext cx="4622241" cy="2585323"/>
          </a:xfrm>
          <a:prstGeom prst="rect">
            <a:avLst/>
          </a:prstGeom>
          <a:noFill/>
        </p:spPr>
        <p:txBody>
          <a:bodyPr wrap="square" rtlCol="0">
            <a:spAutoFit/>
          </a:bodyPr>
          <a:lstStyle/>
          <a:p>
            <a:pPr lvl="0" algn="ctr"/>
            <a:r>
              <a:rPr lang="en-US" b="1" u="sng" dirty="0">
                <a:solidFill>
                  <a:schemeClr val="accent2">
                    <a:lumMod val="50000"/>
                  </a:schemeClr>
                </a:solidFill>
              </a:rPr>
              <a:t>Cost Transparency Messaging</a:t>
            </a:r>
          </a:p>
          <a:p>
            <a:pPr lvl="1"/>
            <a:r>
              <a:rPr lang="en-US" dirty="0">
                <a:solidFill>
                  <a:schemeClr val="accent2">
                    <a:lumMod val="50000"/>
                  </a:schemeClr>
                </a:solidFill>
              </a:rPr>
              <a:t>Trigger real‑time prompts after long rides: “This ride cost $X — a membership would’ve been $Y.”</a:t>
            </a:r>
            <a:br>
              <a:rPr lang="en-US" dirty="0">
                <a:solidFill>
                  <a:schemeClr val="accent2">
                    <a:lumMod val="50000"/>
                  </a:schemeClr>
                </a:solidFill>
              </a:rPr>
            </a:br>
            <a:r>
              <a:rPr lang="en-US" dirty="0">
                <a:solidFill>
                  <a:schemeClr val="accent2">
                    <a:lumMod val="50000"/>
                  </a:schemeClr>
                </a:solidFill>
              </a:rPr>
              <a:t>Delivering this message at the pain point makes the value of membership tangible and immediate.</a:t>
            </a:r>
          </a:p>
          <a:p>
            <a:br>
              <a:rPr lang="en-US" dirty="0">
                <a:solidFill>
                  <a:schemeClr val="accent2">
                    <a:lumMod val="50000"/>
                  </a:schemeClr>
                </a:solidFill>
              </a:rPr>
            </a:br>
            <a:endParaRPr lang="en-US" dirty="0">
              <a:solidFill>
                <a:schemeClr val="accent2">
                  <a:lumMod val="50000"/>
                </a:schemeClr>
              </a:solidFill>
            </a:endParaRPr>
          </a:p>
        </p:txBody>
      </p:sp>
    </p:spTree>
    <p:extLst>
      <p:ext uri="{BB962C8B-B14F-4D97-AF65-F5344CB8AC3E}">
        <p14:creationId xmlns:p14="http://schemas.microsoft.com/office/powerpoint/2010/main" val="3612900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698</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How do Cyclistic Member and Casual differ?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Muskan kakkar</cp:lastModifiedBy>
  <cp:revision>2</cp:revision>
  <dcterms:created xsi:type="dcterms:W3CDTF">2026-09-30T13:31:51Z</dcterms:created>
  <dcterms:modified xsi:type="dcterms:W3CDTF">2026-09-30T15:22:13Z</dcterms:modified>
</cp:coreProperties>
</file>